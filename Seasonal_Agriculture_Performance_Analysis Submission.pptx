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782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499872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CD3192-2B3A-E4E1-FDCB-90D22B7C05F8}"/>
              </a:ext>
            </a:extLst>
          </p:cNvPr>
          <p:cNvSpPr txBox="1"/>
          <p:nvPr/>
        </p:nvSpPr>
        <p:spPr>
          <a:xfrm>
            <a:off x="3352800" y="2844225"/>
            <a:ext cx="7939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Seasonal Agriculture Performance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21337-EC1C-EECD-9240-14F1ABD20479}"/>
              </a:ext>
            </a:extLst>
          </p:cNvPr>
          <p:cNvSpPr txBox="1"/>
          <p:nvPr/>
        </p:nvSpPr>
        <p:spPr>
          <a:xfrm>
            <a:off x="675957" y="3530340"/>
            <a:ext cx="4197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Student Name : Jonada Tejas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7E2CF-583F-40CB-CED5-FF45EDA97D90}"/>
              </a:ext>
            </a:extLst>
          </p:cNvPr>
          <p:cNvSpPr txBox="1"/>
          <p:nvPr/>
        </p:nvSpPr>
        <p:spPr>
          <a:xfrm>
            <a:off x="675957" y="4060718"/>
            <a:ext cx="70487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College Name : St. Joseph Degree and PG College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D4E48-B44F-1AF7-03CB-8B2F20CE704C}"/>
              </a:ext>
            </a:extLst>
          </p:cNvPr>
          <p:cNvSpPr txBox="1"/>
          <p:nvPr/>
        </p:nvSpPr>
        <p:spPr>
          <a:xfrm>
            <a:off x="675957" y="4591097"/>
            <a:ext cx="6593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AICTE STU ID : STU69999fc96409f1771675593  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3192" y="1723463"/>
            <a:ext cx="6570497" cy="4365522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3300" dirty="0"/>
              <a:t>- </a:t>
            </a:r>
            <a:r>
              <a:rPr lang="en-IN" sz="3600" dirty="0"/>
              <a:t>Agricultural performance varies across seasons    because of differences in environmental conditions, farming practices, resource availability, and market conditions.</a:t>
            </a:r>
          </a:p>
          <a:p>
            <a:pPr marL="0" indent="0">
              <a:buNone/>
            </a:pPr>
            <a:r>
              <a:rPr lang="en-IN" sz="3600" dirty="0"/>
              <a:t>However, raw agricultural data does not clearly show:</a:t>
            </a:r>
          </a:p>
          <a:p>
            <a:r>
              <a:rPr lang="en-IN" sz="2900" dirty="0"/>
              <a:t>How agricultural performance changes across seasons</a:t>
            </a:r>
          </a:p>
          <a:p>
            <a:r>
              <a:rPr lang="en-IN" sz="2900" dirty="0"/>
              <a:t>Which seasons perform better economically</a:t>
            </a:r>
          </a:p>
          <a:p>
            <a:r>
              <a:rPr lang="en-IN" sz="2900" dirty="0"/>
              <a:t>How environmental conditions relate to agricultural outcomes</a:t>
            </a:r>
          </a:p>
          <a:p>
            <a:r>
              <a:rPr lang="en-IN" sz="2900" dirty="0"/>
              <a:t>How resource usage differs between seasons</a:t>
            </a:r>
          </a:p>
          <a:p>
            <a:r>
              <a:rPr lang="en-IN" sz="2900" dirty="0"/>
              <a:t>Which crops and irrigation methods perform better</a:t>
            </a:r>
          </a:p>
          <a:p>
            <a:r>
              <a:rPr lang="en-IN" sz="2900" dirty="0"/>
              <a:t>Whether seasonal patterns remain consistent across regions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421755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723D47-F151-9EE7-EF9E-2EA106EFB45D}"/>
              </a:ext>
            </a:extLst>
          </p:cNvPr>
          <p:cNvSpPr txBox="1"/>
          <p:nvPr/>
        </p:nvSpPr>
        <p:spPr>
          <a:xfrm>
            <a:off x="467359" y="1404889"/>
            <a:ext cx="108044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project performs an end-to-end exploratory data analysis of 4,000 agricultural farm records containing 28 variables.</a:t>
            </a:r>
          </a:p>
          <a:p>
            <a:r>
              <a:rPr lang="en-IN" dirty="0"/>
              <a:t>The dataset contains information related to:</a:t>
            </a:r>
          </a:p>
          <a:p>
            <a:pPr lvl="0"/>
            <a:r>
              <a:rPr lang="en-IN" dirty="0"/>
              <a:t>- Crop and season, State and district, Farm area, Rainfall, temperature, Humidity, soil conditions</a:t>
            </a:r>
          </a:p>
          <a:p>
            <a:pPr lvl="0"/>
            <a:r>
              <a:rPr lang="en-IN" dirty="0"/>
              <a:t>  Fertilizer, pesticide usage, Irrigation method, Yield, production, Market price, Production cost</a:t>
            </a:r>
          </a:p>
          <a:p>
            <a:pPr lvl="0"/>
            <a:r>
              <a:rPr lang="en-IN" dirty="0"/>
              <a:t>  Revenue, profit, Water usage, water efficiency, Disease and pest risk</a:t>
            </a:r>
          </a:p>
          <a:p>
            <a:pPr lvl="0"/>
            <a:endParaRPr lang="en-IN" dirty="0"/>
          </a:p>
          <a:p>
            <a:r>
              <a:rPr lang="en-IN" dirty="0"/>
              <a:t>Analysis Process</a:t>
            </a:r>
          </a:p>
          <a:p>
            <a:r>
              <a:rPr lang="en-IN" dirty="0"/>
              <a:t>Data Loading → Data Cleaning → Statistical Analysis → Visualization → Seasonal Comparison → Relationship Analysis → Student-Designed Analysis → Insights → Recommendations</a:t>
            </a:r>
          </a:p>
          <a:p>
            <a:endParaRPr lang="en-IN" dirty="0"/>
          </a:p>
          <a:p>
            <a:r>
              <a:rPr lang="en-IN" dirty="0"/>
              <a:t>Main Objective</a:t>
            </a:r>
          </a:p>
          <a:p>
            <a:r>
              <a:rPr lang="en-IN" dirty="0"/>
              <a:t>To understand why agricultural performance differs across seasons and identify patterns that can support better seasonal agricultural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0008" y="1853709"/>
            <a:ext cx="10490444" cy="399002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sz="4000" b="1" dirty="0"/>
              <a:t>Farmers</a:t>
            </a:r>
          </a:p>
          <a:p>
            <a:pPr marL="0" indent="0">
              <a:buNone/>
            </a:pPr>
            <a:r>
              <a:rPr lang="en-IN" sz="4000" dirty="0"/>
              <a:t>- To understand seasonal profitability, crop performance, water usage, and resource efficiency.</a:t>
            </a:r>
          </a:p>
          <a:p>
            <a:pPr marL="0" indent="0">
              <a:buNone/>
            </a:pPr>
            <a:r>
              <a:rPr lang="en-IN" sz="4000" b="1" dirty="0"/>
              <a:t>Agricultural Planners</a:t>
            </a:r>
          </a:p>
          <a:p>
            <a:pPr marL="0" indent="0">
              <a:buNone/>
            </a:pPr>
            <a:r>
              <a:rPr lang="en-IN" sz="4000" dirty="0"/>
              <a:t>- To compare seasonal and regional agricultural performance for planning and resource allocation.</a:t>
            </a:r>
          </a:p>
          <a:p>
            <a:pPr marL="0" indent="0">
              <a:buNone/>
            </a:pPr>
            <a:r>
              <a:rPr lang="en-IN" sz="4000" b="1" dirty="0"/>
              <a:t>Agricultural Extension Officers</a:t>
            </a:r>
          </a:p>
          <a:p>
            <a:pPr marL="0" indent="0">
              <a:buNone/>
            </a:pPr>
            <a:r>
              <a:rPr lang="en-IN" sz="4000" dirty="0"/>
              <a:t>- To identify areas where farmers may require better seasonal planning or resource-management guidance.</a:t>
            </a:r>
          </a:p>
          <a:p>
            <a:pPr marL="0" indent="0">
              <a:buNone/>
            </a:pPr>
            <a:r>
              <a:rPr lang="en-IN" sz="4000" b="1" dirty="0"/>
              <a:t>Researchers &amp; Data Analysts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4000" dirty="0"/>
              <a:t>- To study relationships between environmental conditions, farming practices, resource usage, and agricultural outcomes.</a:t>
            </a:r>
          </a:p>
          <a:p>
            <a:pPr marL="0" indent="0">
              <a:buNone/>
            </a:pPr>
            <a:r>
              <a:rPr lang="en-IN" sz="4000" b="1" dirty="0"/>
              <a:t>Educational Institutions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4000" dirty="0"/>
              <a:t>- To demonstrate how real-world agricultural datasets can be </a:t>
            </a:r>
            <a:r>
              <a:rPr lang="en-IN" sz="4000" dirty="0" err="1"/>
              <a:t>analyzed</a:t>
            </a:r>
            <a:r>
              <a:rPr lang="en-IN" sz="4000" dirty="0"/>
              <a:t> using data analytics techniques.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4C5FA1-CFEB-C4F8-4866-123C032BE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511137"/>
              </p:ext>
            </p:extLst>
          </p:nvPr>
        </p:nvGraphicFramePr>
        <p:xfrm>
          <a:off x="1494576" y="1799303"/>
          <a:ext cx="8128000" cy="2671302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0061198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936639"/>
                    </a:ext>
                  </a:extLst>
                </a:gridCol>
              </a:tblGrid>
              <a:tr h="458772"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361197"/>
                  </a:ext>
                </a:extLst>
              </a:tr>
              <a:tr h="442506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Core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92514"/>
                  </a:ext>
                </a:extLst>
              </a:tr>
              <a:tr h="442506">
                <a:tc>
                  <a:txBody>
                    <a:bodyPr/>
                    <a:lstStyle/>
                    <a:p>
                      <a:r>
                        <a:rPr lang="en-IN" dirty="0"/>
                        <a:t>Pandas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manipulation &amp;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686322"/>
                  </a:ext>
                </a:extLst>
              </a:tr>
              <a:tr h="442506">
                <a:tc>
                  <a:txBody>
                    <a:bodyPr/>
                    <a:lstStyle/>
                    <a:p>
                      <a:r>
                        <a:rPr lang="en-IN" dirty="0" err="1"/>
                        <a:t>Numpy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Numerical operations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7831460"/>
                  </a:ext>
                </a:extLst>
              </a:tr>
              <a:tr h="442506">
                <a:tc>
                  <a:txBody>
                    <a:bodyPr/>
                    <a:lstStyle/>
                    <a:p>
                      <a:r>
                        <a:rPr lang="en-IN" dirty="0"/>
                        <a:t>Matplotlib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visualization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4395371"/>
                  </a:ext>
                </a:extLst>
              </a:tr>
              <a:tr h="442506">
                <a:tc>
                  <a:txBody>
                    <a:bodyPr/>
                    <a:lstStyle/>
                    <a:p>
                      <a:r>
                        <a:rPr lang="en-IN" dirty="0"/>
                        <a:t>Seaborn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Statistical visualization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945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247420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896D50-94F4-D5F8-5B29-9625B973D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0" y="1483057"/>
            <a:ext cx="9836489" cy="52815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EEBC84-60BF-D234-CA3F-C4C261431665}"/>
              </a:ext>
            </a:extLst>
          </p:cNvPr>
          <p:cNvSpPr txBox="1"/>
          <p:nvPr/>
        </p:nvSpPr>
        <p:spPr>
          <a:xfrm>
            <a:off x="693858" y="1176004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Descriptive analysis table -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869891-51B3-2CAF-8B20-DA0117863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87078"/>
            <a:ext cx="6371303" cy="35676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C06653-2753-EB09-D249-ECB61B768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948" y="3069875"/>
            <a:ext cx="5525730" cy="34594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E8636E-587B-2843-9232-EE9D8FD08A6D}"/>
              </a:ext>
            </a:extLst>
          </p:cNvPr>
          <p:cNvSpPr txBox="1"/>
          <p:nvPr/>
        </p:nvSpPr>
        <p:spPr>
          <a:xfrm>
            <a:off x="675957" y="1454048"/>
            <a:ext cx="4746877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Average profit changes from approximately: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₹178.9K → ₹87.7K → -₹24.8K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from Kharif → Rabi → Zaid.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9681D9-F3D8-EEE2-A7E7-9E9DDA82E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0348"/>
            <a:ext cx="6536984" cy="38331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B654BF-D55A-5EBD-4271-EADBA6DFA051}"/>
              </a:ext>
            </a:extLst>
          </p:cNvPr>
          <p:cNvSpPr txBox="1"/>
          <p:nvPr/>
        </p:nvSpPr>
        <p:spPr>
          <a:xfrm>
            <a:off x="675957" y="1233133"/>
            <a:ext cx="96022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Zaid uses the most water on average but produces the lowest average yield.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Kharif has the highest average water efficiency.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Kharif also shows the highest average disease/pest risk.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Resource usage and agricultural performance should therefore be evaluated together rather than separately.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65EC4-DF45-C643-854E-6D05EB4C4037}"/>
              </a:ext>
            </a:extLst>
          </p:cNvPr>
          <p:cNvSpPr txBox="1"/>
          <p:nvPr/>
        </p:nvSpPr>
        <p:spPr>
          <a:xfrm>
            <a:off x="675957" y="1275371"/>
            <a:ext cx="433849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Sugarcane has the highest average profit in the dataset.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Chilli is the second-highest average-profit crop.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Wheat has the lowest average profit.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Drip irrigation has the highest average yield and average profit among the irrigation methods.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Flood irrigation has the highest water consumption.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Irrigation efficiency cannot be judged using water consumption alone; yield and profit must also be considered.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6BEC45-DE3A-C172-79F9-51A25FFDF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626" y="370589"/>
            <a:ext cx="7039897" cy="629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861F13-01A7-0727-FCD6-DD659BE3D173}"/>
              </a:ext>
            </a:extLst>
          </p:cNvPr>
          <p:cNvSpPr txBox="1"/>
          <p:nvPr/>
        </p:nvSpPr>
        <p:spPr>
          <a:xfrm>
            <a:off x="675957" y="1397675"/>
            <a:ext cx="101461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Drip irrigation provides the strongest combined performance, while flood irrigation uses substantially more water.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Crop performance changes across seasons, indicating that crop selection should consider seasonal conditions rather than overall crop averages alone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Average profit differs considerably between states, indicating regional variation in agricultural performance.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942CE6-F6FC-F33F-1C3B-87C33E3C0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68363"/>
            <a:ext cx="5987845" cy="3564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F526A6-4D0E-ECC4-D4A4-C55169A1C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68362"/>
            <a:ext cx="6096001" cy="368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5A837-E58F-39A6-2D4C-62C219F239E3}"/>
              </a:ext>
            </a:extLst>
          </p:cNvPr>
          <p:cNvSpPr txBox="1"/>
          <p:nvPr/>
        </p:nvSpPr>
        <p:spPr>
          <a:xfrm>
            <a:off x="675957" y="1374641"/>
            <a:ext cx="98150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Predictive Modelling</a:t>
            </a:r>
          </a:p>
          <a:p>
            <a:r>
              <a:rPr lang="en-IN" dirty="0"/>
              <a:t>-Develop machine learning models to predict:</a:t>
            </a:r>
          </a:p>
          <a:p>
            <a:pPr lvl="0"/>
            <a:r>
              <a:rPr lang="en-IN" dirty="0"/>
              <a:t> Crop yield, Farm profitability, Disease/pest risk, Water requirement</a:t>
            </a:r>
          </a:p>
          <a:p>
            <a:pPr lvl="0"/>
            <a:endParaRPr lang="en-IN" dirty="0"/>
          </a:p>
          <a:p>
            <a:r>
              <a:rPr lang="en-IN" b="1" dirty="0"/>
              <a:t>2. Weather Integration</a:t>
            </a:r>
          </a:p>
          <a:p>
            <a:r>
              <a:rPr lang="en-IN" dirty="0"/>
              <a:t>- Combine real-time and historical weather information with agricultural records.</a:t>
            </a:r>
          </a:p>
          <a:p>
            <a:endParaRPr lang="en-IN" dirty="0"/>
          </a:p>
          <a:p>
            <a:r>
              <a:rPr lang="en-IN" b="1" dirty="0"/>
              <a:t>3. Crop Recommendation</a:t>
            </a:r>
          </a:p>
          <a:p>
            <a:r>
              <a:rPr lang="en-IN" dirty="0"/>
              <a:t>- Develop a recommendation system that considers season, environmental conditions, profitability, and resource availability.</a:t>
            </a:r>
          </a:p>
          <a:p>
            <a:endParaRPr lang="en-IN" dirty="0"/>
          </a:p>
          <a:p>
            <a:r>
              <a:rPr lang="en-IN" b="1" dirty="0"/>
              <a:t>4. Regional Decision Support</a:t>
            </a:r>
          </a:p>
          <a:p>
            <a:r>
              <a:rPr lang="en-IN" dirty="0"/>
              <a:t>- Create region-specific agricultural performance dashboards.</a:t>
            </a:r>
          </a:p>
          <a:p>
            <a:endParaRPr lang="en-IN" dirty="0"/>
          </a:p>
          <a:p>
            <a:r>
              <a:rPr lang="en-IN" b="1" dirty="0"/>
              <a:t>5. Time-Series Analysis</a:t>
            </a:r>
          </a:p>
          <a:p>
            <a:r>
              <a:rPr lang="en-IN" dirty="0"/>
              <a:t>- Use multiple years of agricultural data to identify long-term seasonal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275371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https://github.com/JONADA-TEJAS/Seasonal-Agricultural-Performance-Analysis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97673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D8CE2-F39E-0B0A-0F8D-726EFE323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79" y="1196713"/>
            <a:ext cx="8694185" cy="558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1550</TotalTime>
  <Words>656</Words>
  <Application>Microsoft Office PowerPoint</Application>
  <PresentationFormat>Widescreen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Jonada Tejas</cp:lastModifiedBy>
  <cp:revision>99</cp:revision>
  <dcterms:created xsi:type="dcterms:W3CDTF">2021-07-11T13:13:15Z</dcterms:created>
  <dcterms:modified xsi:type="dcterms:W3CDTF">2026-09-09T13:20:06Z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